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2926080" cy="384048"/>
          </a:xfrm>
          <a:prstGeom prst="rect">
            <a:avLst/>
          </a:prstGeom>
          <a:noFill/>
          <a:ln w="15875">
            <a:solidFill>
              <a:srgbClr val="D65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 spc="260">
                <a:solidFill>
                  <a:srgbClr val="D65B3A"/>
                </a:solidFill>
                <a:latin typeface="JetBrains Mono"/>
                <a:ea typeface="JetBrains Mono"/>
              </a:rPr>
              <a:t>TAIWAN · OLD-MAP STROLL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 i="0" spc="300">
                <a:solidFill>
                  <a:srgbClr val="14130F"/>
                </a:solidFill>
                <a:latin typeface="Noto Serif TC"/>
                <a:ea typeface="Noto Serif TC"/>
              </a:rPr>
              <a:t>舊地圖散策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1">
                <a:solidFill>
                  <a:srgbClr val="2E4374"/>
                </a:solidFill>
                <a:latin typeface="EB Garamond"/>
                <a:ea typeface="EB Garamond"/>
              </a:rPr>
              <a:t>Walk the island through a century of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50">
                <a:solidFill>
                  <a:srgbClr val="4A463E"/>
                </a:solidFill>
                <a:latin typeface="JetBrains Mono"/>
                <a:ea typeface="JetBrains Mono"/>
              </a:rPr>
              <a:t>1897    ——    1944    ——    2003    ——    今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 spc="120">
                <a:solidFill>
                  <a:srgbClr val="4A463E"/>
                </a:solidFill>
                <a:latin typeface="Noto Sans TC"/>
                <a:ea typeface="Noto Sans TC"/>
              </a:rPr>
              <a:t>把百年來的臺灣歷史地圖，疊回你腳下的街道</a:t>
            </a:r>
          </a:p>
          <a:p>
            <a:pPr>
              <a:spcAft>
                <a:spcPts val="400"/>
              </a:spcAft>
            </a:pPr>
            <a:r>
              <a:rPr sz="1100" b="0" i="0" spc="120">
                <a:solidFill>
                  <a:srgbClr val="6E6A60"/>
                </a:solidFill>
                <a:latin typeface="JetBrains Mono"/>
                <a:ea typeface="JetBrains Mono"/>
              </a:rPr>
              <a:t>A walking-first PPGIS · PWA · iOS / Android · 中 / EN / 日</a:t>
            </a:r>
          </a:p>
          <a:p>
            <a:pPr>
              <a:spcAft>
                <a:spcPts val="400"/>
              </a:spcAft>
            </a:pPr>
            <a:r>
              <a:rPr sz="1100" b="0" i="0" spc="120">
                <a:solidFill>
                  <a:srgbClr val="6E6A60"/>
                </a:solidFill>
                <a:latin typeface="JetBrains Mono"/>
                <a:ea typeface="JetBrains Mono"/>
              </a:rPr>
              <a:t>吳昀慶、張芸翠、朱穎芃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200">
                <a:solidFill>
                  <a:srgbClr val="9C988C"/>
                </a:solidFill>
                <a:latin typeface="JetBrains Mono"/>
                <a:ea typeface="JetBrains Mono"/>
              </a:rPr>
              <a:t>PROJECT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01 ·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你腳下的馬路，百年前是什麼？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A time machine you operate with your feet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0" i="0" spc="50">
                <a:solidFill>
                  <a:srgbClr val="4A463E"/>
                </a:solidFill>
                <a:latin typeface="Noto Serif TC"/>
                <a:ea typeface="Noto Serif TC"/>
              </a:rPr>
              <a:t>舊地圖散策把 1897 年以來的臺灣歷史地圖，疊在今日的街道上。你現在走的這條路，可能曾是水圳、糖鐵，或一座消失的聚落。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76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不只是看圖　</a:t>
            </a:r>
            <a:r>
              <a:rPr sz="1250" b="0" i="0">
                <a:solidFill>
                  <a:srgbClr val="4A463E"/>
                </a:solidFill>
                <a:latin typeface="Noto Sans TC"/>
                <a:ea typeface="Noto Sans TC"/>
              </a:rPr>
              <a:t>帶著手機走出門，用 GPS 讓歷史在你腳下「對位」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不只是懷舊　</a:t>
            </a:r>
            <a:r>
              <a:rPr sz="1250" b="0" i="0">
                <a:solidFill>
                  <a:srgbClr val="4A463E"/>
                </a:solidFill>
                <a:latin typeface="Noto Sans TC"/>
                <a:ea typeface="Noto Sans TC"/>
              </a:rPr>
              <a:t>把分散在各機構的圖資，整理成人人可玩的介面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邊走邊收集　</a:t>
            </a:r>
            <a:r>
              <a:rPr sz="1250" b="0" i="0">
                <a:solidFill>
                  <a:srgbClr val="4A463E"/>
                </a:solidFill>
                <a:latin typeface="Noto Sans TC"/>
                <a:ea typeface="Noto Sans TC"/>
              </a:rPr>
              <a:t>走到歷史現場，老明信片就會「沖洗」顯影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2560320"/>
            <a:ext cx="3429000" cy="310896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2560320"/>
            <a:ext cx="41148" cy="3108960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1" y="2743200"/>
            <a:ext cx="2971800" cy="2779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🗺️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核心命題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4612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 spc="40">
                <a:solidFill>
                  <a:srgbClr val="4A463E"/>
                </a:solidFill>
                <a:latin typeface="Noto Serif TC"/>
                <a:ea typeface="Noto Serif TC"/>
              </a:rPr>
              <a:t>歷史不在課本裡，</a:t>
            </a:r>
          </a:p>
          <a:p>
            <a:pPr>
              <a:spcAft>
                <a:spcPts val="300"/>
              </a:spcAft>
            </a:pPr>
            <a:r>
              <a:rPr sz="1300" b="0" i="0" spc="40">
                <a:solidFill>
                  <a:srgbClr val="4A463E"/>
                </a:solidFill>
                <a:latin typeface="Noto Serif TC"/>
                <a:ea typeface="Noto Serif TC"/>
              </a:rPr>
              <a:t>就在你走的這條路上。</a:t>
            </a:r>
          </a:p>
          <a:p>
            <a:pPr>
              <a:spcAft>
                <a:spcPts val="300"/>
              </a:spcAft>
            </a:pPr>
            <a:r>
              <a:rPr sz="1300" b="0" i="0" spc="40">
                <a:solidFill>
                  <a:srgbClr val="4A463E"/>
                </a:solidFill>
                <a:latin typeface="Noto Serif TC"/>
                <a:ea typeface="Noto Serif TC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 i="0" spc="40">
                <a:solidFill>
                  <a:srgbClr val="4A463E"/>
                </a:solidFill>
                <a:latin typeface="Noto Serif TC"/>
                <a:ea typeface="Noto Serif TC"/>
              </a:rPr>
              <a:t>讓「地點」成為時間的入口，</a:t>
            </a:r>
          </a:p>
          <a:p>
            <a:pPr>
              <a:spcAft>
                <a:spcPts val="300"/>
              </a:spcAft>
            </a:pPr>
            <a:r>
              <a:rPr sz="1300" b="0" i="0" spc="40">
                <a:solidFill>
                  <a:srgbClr val="4A463E"/>
                </a:solidFill>
                <a:latin typeface="Noto Serif TC"/>
                <a:ea typeface="Noto Serif TC"/>
              </a:rPr>
              <a:t>讓散步成為一場考古。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02 · CONTENT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內容與資料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23 historical layers · 22 cities · 200+ postcards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0" i="0">
                <a:solidFill>
                  <a:srgbClr val="D65B3A"/>
                </a:solidFill>
                <a:latin typeface="EB Garamond"/>
                <a:ea typeface="EB Garamond"/>
              </a:rPr>
              <a:t>23</a:t>
            </a:r>
          </a:p>
          <a:p>
            <a:pPr>
              <a:spcBef>
                <a:spcPts val="200"/>
              </a:spcBef>
            </a:pPr>
            <a:r>
              <a:rPr sz="850" b="0" i="0" spc="160">
                <a:solidFill>
                  <a:srgbClr val="6E6A60"/>
                </a:solidFill>
                <a:latin typeface="JetBrains Mono"/>
                <a:ea typeface="JetBrains Mono"/>
              </a:rPr>
              <a:t>歷史圖層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42316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0" i="0">
                <a:solidFill>
                  <a:srgbClr val="D65B3A"/>
                </a:solidFill>
                <a:latin typeface="EB Garamond"/>
                <a:ea typeface="EB Garamond"/>
              </a:rPr>
              <a:t>22</a:t>
            </a:r>
          </a:p>
          <a:p>
            <a:pPr>
              <a:spcBef>
                <a:spcPts val="200"/>
              </a:spcBef>
            </a:pPr>
            <a:r>
              <a:rPr sz="850" b="0" i="0" spc="160">
                <a:solidFill>
                  <a:srgbClr val="6E6A60"/>
                </a:solidFill>
                <a:latin typeface="JetBrains Mono"/>
                <a:ea typeface="JetBrains Mono"/>
              </a:rPr>
              <a:t>縣市 CITIES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42316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0" i="0">
                <a:solidFill>
                  <a:srgbClr val="D65B3A"/>
                </a:solidFill>
                <a:latin typeface="EB Garamond"/>
                <a:ea typeface="EB Garamond"/>
              </a:rPr>
              <a:t>200+</a:t>
            </a:r>
          </a:p>
          <a:p>
            <a:pPr>
              <a:spcBef>
                <a:spcPts val="200"/>
              </a:spcBef>
            </a:pPr>
            <a:r>
              <a:rPr sz="850" b="0" i="0" spc="160">
                <a:solidFill>
                  <a:srgbClr val="6E6A60"/>
                </a:solidFill>
                <a:latin typeface="JetBrains Mono"/>
                <a:ea typeface="JetBrains Mono"/>
              </a:rPr>
              <a:t>老明信片 POSTCARDS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42316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0" i="0">
                <a:solidFill>
                  <a:srgbClr val="D65B3A"/>
                </a:solidFill>
                <a:latin typeface="EB Garamond"/>
                <a:ea typeface="EB Garamond"/>
              </a:rPr>
              <a:t>3</a:t>
            </a:r>
          </a:p>
          <a:p>
            <a:pPr>
              <a:spcBef>
                <a:spcPts val="200"/>
              </a:spcBef>
            </a:pPr>
            <a:r>
              <a:rPr sz="850" b="0" i="0" spc="160">
                <a:solidFill>
                  <a:srgbClr val="6E6A60"/>
                </a:solidFill>
                <a:latin typeface="JetBrains Mono"/>
                <a:ea typeface="JetBrains Mono"/>
              </a:rPr>
              <a:t>語言 中 / EN / 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60520"/>
            <a:ext cx="106070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00">
                <a:solidFill>
                  <a:srgbClr val="D65B3A"/>
                </a:solidFill>
                <a:latin typeface="JetBrains Mono"/>
                <a:ea typeface="JetBrains Mono"/>
              </a:rPr>
              <a:t>1897 – 1944</a:t>
            </a:r>
          </a:p>
          <a:p>
            <a:pPr>
              <a:spcBef>
                <a:spcPts val="300"/>
              </a:spcBef>
            </a:pPr>
            <a:r>
              <a:rPr sz="1250" b="1" i="0">
                <a:solidFill>
                  <a:srgbClr val="1F1D19"/>
                </a:solidFill>
                <a:latin typeface="Noto Serif TC"/>
                <a:ea typeface="Noto Serif TC"/>
              </a:rPr>
              <a:t>日治時期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E6A60"/>
                </a:solidFill>
                <a:latin typeface="Noto Sans TC"/>
                <a:ea typeface="Noto Sans TC"/>
              </a:rPr>
              <a:t>臺灣堡圖、蕃地地形圖、二萬五千分一地形圖…（10 圖層）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3434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00">
                <a:solidFill>
                  <a:srgbClr val="D65B3A"/>
                </a:solidFill>
                <a:latin typeface="JetBrains Mono"/>
                <a:ea typeface="JetBrains Mono"/>
              </a:rPr>
              <a:t>1944 – 1945</a:t>
            </a:r>
          </a:p>
          <a:p>
            <a:pPr>
              <a:spcBef>
                <a:spcPts val="300"/>
              </a:spcBef>
            </a:pPr>
            <a:r>
              <a:rPr sz="1250" b="1" i="0">
                <a:solidFill>
                  <a:srgbClr val="1F1D19"/>
                </a:solidFill>
                <a:latin typeface="Noto Serif TC"/>
                <a:ea typeface="Noto Serif TC"/>
              </a:rPr>
              <a:t>美軍時期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E6A60"/>
                </a:solidFill>
                <a:latin typeface="Noto Sans TC"/>
                <a:ea typeface="Noto Sans TC"/>
              </a:rPr>
              <a:t>U.S. Army 地形圖與城市地圖（4 圖層）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43434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00">
                <a:solidFill>
                  <a:srgbClr val="D65B3A"/>
                </a:solidFill>
                <a:latin typeface="JetBrains Mono"/>
                <a:ea typeface="JetBrains Mono"/>
              </a:rPr>
              <a:t>1950 – 2003</a:t>
            </a:r>
          </a:p>
          <a:p>
            <a:pPr>
              <a:spcBef>
                <a:spcPts val="300"/>
              </a:spcBef>
            </a:pPr>
            <a:r>
              <a:rPr sz="1250" b="1" i="0">
                <a:solidFill>
                  <a:srgbClr val="1F1D19"/>
                </a:solidFill>
                <a:latin typeface="Noto Serif TC"/>
                <a:ea typeface="Noto Serif TC"/>
              </a:rPr>
              <a:t>戰後經建版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E6A60"/>
                </a:solidFill>
                <a:latin typeface="Noto Sans TC"/>
                <a:ea typeface="Noto Sans TC"/>
              </a:rPr>
              <a:t>臺灣地形圖、經建版一～四版（7 圖層）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3434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00">
                <a:solidFill>
                  <a:srgbClr val="D65B3A"/>
                </a:solidFill>
                <a:latin typeface="JetBrains Mono"/>
                <a:ea typeface="JetBrains Mono"/>
              </a:rPr>
              <a:t>1966 / 1969</a:t>
            </a:r>
          </a:p>
          <a:p>
            <a:pPr>
              <a:spcBef>
                <a:spcPts val="300"/>
              </a:spcBef>
            </a:pPr>
            <a:r>
              <a:rPr sz="1250" b="1" i="0">
                <a:solidFill>
                  <a:srgbClr val="1F1D19"/>
                </a:solidFill>
                <a:latin typeface="Noto Serif TC"/>
                <a:ea typeface="Noto Serif TC"/>
              </a:rPr>
              <a:t>CORONA 衛星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6E6A60"/>
                </a:solidFill>
                <a:latin typeface="Noto Sans TC"/>
                <a:ea typeface="Noto Sans TC"/>
              </a:rPr>
              <a:t>冷戰時期解密衛星影像（2 圖層）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897880"/>
            <a:ext cx="106070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20">
                <a:solidFill>
                  <a:srgbClr val="4A463E"/>
                </a:solidFill>
                <a:latin typeface="JetBrains Mono"/>
                <a:ea typeface="JetBrains Mono"/>
              </a:rPr>
              <a:t>資料來源  </a:t>
            </a:r>
            <a:r>
              <a:rPr sz="900" b="0" i="0" spc="60">
                <a:solidFill>
                  <a:srgbClr val="6E6A60"/>
                </a:solidFill>
                <a:latin typeface="JetBrains Mono"/>
                <a:ea typeface="JetBrains Mono"/>
              </a:rPr>
              <a:t>歷史圖資 · 中央研究院 GIS   |   現代底圖 · CARTO + OpenStreetMap   |   正射影像 · 國土測繪中心 NLSC   |   日本圖資 · 農研機構 / 國土地理院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03 ·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讀圖的四種方式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Four ways to read time on the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5212080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697480"/>
            <a:ext cx="475488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🎚️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圖層疊加</a:t>
            </a:r>
            <a:r>
              <a:rPr sz="1050" b="0" i="1">
                <a:solidFill>
                  <a:srgbClr val="2E4374"/>
                </a:solidFill>
                <a:latin typeface="EB Garamond"/>
                <a:ea typeface="EB Garamond"/>
              </a:rPr>
              <a:t>  Overlay &amp; opacity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任選一張古地圖疊上現代街道，用透明度滑桿細調，讓今昔同時可見。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514600"/>
            <a:ext cx="5212080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51460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697480"/>
            <a:ext cx="475488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↔️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對照拉條</a:t>
            </a:r>
            <a:r>
              <a:rPr sz="1050" b="0" i="1">
                <a:solidFill>
                  <a:srgbClr val="2E4374"/>
                </a:solidFill>
                <a:latin typeface="EB Garamond"/>
                <a:ea typeface="EB Garamond"/>
              </a:rPr>
              <a:t>  Swipe compare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左右滑動分界線，一邊現代、一邊古圖；也能古圖對古圖，比較年代。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343400"/>
            <a:ext cx="5212080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34340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526280"/>
            <a:ext cx="475488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⊞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四代對照</a:t>
            </a:r>
            <a:r>
              <a:rPr sz="1050" b="0" i="1">
                <a:solidFill>
                  <a:srgbClr val="2E4374"/>
                </a:solidFill>
                <a:latin typeface="EB Garamond"/>
                <a:ea typeface="EB Garamond"/>
              </a:rPr>
              <a:t>  Four eras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四個年代並排同步縮放平移，一眼看完城市百年的長成過程。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43400"/>
            <a:ext cx="5212080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343400"/>
            <a:ext cx="41148" cy="1600200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526280"/>
            <a:ext cx="475488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▶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時光快轉</a:t>
            </a:r>
            <a:r>
              <a:rPr sz="1050" b="0" i="1">
                <a:solidFill>
                  <a:srgbClr val="2E4374"/>
                </a:solidFill>
                <a:latin typeface="EB Garamond"/>
                <a:ea typeface="EB Garamond"/>
              </a:rPr>
              <a:t>  Time-lapse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自選年代依序淡入淡出，從 1897 一路播到今天，像會動的地圖。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04 · EXPLORE &amp; COLLECT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把散步變成一場考古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Gamified field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3410712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41148" cy="1600200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697480"/>
            <a:ext cx="2953512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📮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明信片顯影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走到歷史現場 50 公尺內，日治老明信片自動「沖洗」收進圖鑑。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514600"/>
            <a:ext cx="3410712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51460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697480"/>
            <a:ext cx="2953512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🎴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每日抽卡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每 4 小時、每日上限 3 張，沒走到也能先收藏回味。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4424" y="2514600"/>
            <a:ext cx="3410712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4424" y="251460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2697480"/>
            <a:ext cx="2953512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🧭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附近的時光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一開 App 就推鄰近現場故事卡，連偏鄉也有探索方向。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97680"/>
            <a:ext cx="3410712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9768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480560"/>
            <a:ext cx="2953512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👣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散策記錄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GPS 記錄路線、距離與時間，沿途拍照釘在地圖上。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4297680"/>
            <a:ext cx="3410712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429768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4480560"/>
            <a:ext cx="2953512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🪧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縣市印章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走訪 22 縣市收集印章，集成一本旅行護照。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4424" y="4297680"/>
            <a:ext cx="3410712" cy="160020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64424" y="4297680"/>
            <a:ext cx="41148" cy="16002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4480560"/>
            <a:ext cx="2953512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📅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散策月曆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把每天的足跡標進月曆，回顧自己的時間旅行。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基本架構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A pure front-end PWA — no server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6E6A60"/>
                </a:solidFill>
                <a:latin typeface="JetBrains Mono"/>
                <a:ea typeface="JetBrains Mono"/>
              </a:rPr>
              <a:t>SHELL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2514600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2E4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2514600"/>
            <a:ext cx="41148" cy="86868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單檔 PWA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HTML + CSS + Vanilla 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2514600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288" y="2514600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Leaflet.js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地圖 / 圖磚 · 淡入淡出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94776" y="2514600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376" y="2514600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Web Audio API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即時合成音效，無音檔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015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C988C"/>
                </a:solidFill>
                <a:latin typeface="Noto Sans TC"/>
                <a:ea typeface="Noto Sans TC"/>
              </a:rP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04487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6E6A60"/>
                </a:solidFill>
                <a:latin typeface="JetBrains Mono"/>
                <a:ea typeface="JetBrains Mono"/>
              </a:rPr>
              <a:t>OFFLINE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813048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D65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813048"/>
            <a:ext cx="41148" cy="868680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813048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Service Worker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App Shell 預快取 · 離線可用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3813048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3813048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圖磚 LRU 快取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~1200 張上限 · 自動驅逐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94776" y="3813048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3813048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localStorage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收藏 / 路線 / 設定存本機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7000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C988C"/>
                </a:solidFill>
                <a:latin typeface="Noto Sans TC"/>
                <a:ea typeface="Noto Sans TC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02936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6E6A60"/>
                </a:solidFill>
                <a:latin typeface="JetBrains Mono"/>
                <a:ea typeface="JetBrains Mono"/>
              </a:rPr>
              <a:t>DATA / EDGE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5111496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2E4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14600" y="5111496"/>
            <a:ext cx="41148" cy="86868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111496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Cloudflare Workers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中研院圖磚代理 + CORS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5111496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33288" y="5111496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中研院 / NLSC / 日本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歷史圖磚與正射影像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94776" y="5111496"/>
            <a:ext cx="2788920" cy="868680"/>
          </a:xfrm>
          <a:prstGeom prst="rect">
            <a:avLst/>
          </a:prstGeom>
          <a:solidFill>
            <a:srgbClr val="EAE8E2"/>
          </a:solidFill>
          <a:ln w="15875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23376" y="5111496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 spc="40">
                <a:solidFill>
                  <a:srgbClr val="1F1D19"/>
                </a:solidFill>
                <a:latin typeface="Noto Serif TC"/>
                <a:ea typeface="Noto Serif TC"/>
              </a:rPr>
              <a:t>Capacitor 7</a:t>
            </a:r>
          </a:p>
          <a:p>
            <a:pPr>
              <a:spcBef>
                <a:spcPts val="200"/>
              </a:spcBef>
            </a:pPr>
            <a:r>
              <a:rPr sz="850" b="0" i="0" spc="40">
                <a:solidFill>
                  <a:srgbClr val="6E6A60"/>
                </a:solidFill>
                <a:latin typeface="JetBrains Mono"/>
                <a:ea typeface="JetBrains Mono"/>
              </a:rPr>
              <a:t>同碼上架 iOS / Android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06 · OFFLINE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離線優先，走到山裡也能用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Built to work without a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65836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分桶快取策略</a:t>
            </a:r>
          </a:p>
          <a:p>
            <a:pPr>
              <a:spcAft>
                <a:spcPts val="1300"/>
              </a:spcAft>
            </a:pPr>
            <a:r>
              <a:rPr sz="1200" b="0" i="0">
                <a:solidFill>
                  <a:srgbClr val="4A463E"/>
                </a:solidFill>
                <a:latin typeface="Noto Sans TC"/>
                <a:ea typeface="Noto Sans TC"/>
              </a:rPr>
              <a:t>     App Shell、執行時資源、圖磚、離線包各自獨立，升級不互相清空</a:t>
            </a:r>
          </a:p>
          <a:p>
            <a:pPr>
              <a:spcAft>
                <a:spcPts val="13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圖磚 LRU 驅逐</a:t>
            </a:r>
          </a:p>
          <a:p>
            <a:pPr>
              <a:spcAft>
                <a:spcPts val="1300"/>
              </a:spcAft>
            </a:pPr>
            <a:r>
              <a:rPr sz="1200" b="0" i="0">
                <a:solidFill>
                  <a:srgbClr val="4A463E"/>
                </a:solidFill>
                <a:latin typeface="Noto Sans TC"/>
                <a:ea typeface="Noto Sans TC"/>
              </a:rPr>
              <a:t>     常用圖磚留下、舊的自動淘汰，控制儲存在 100–150 MB 內</a:t>
            </a:r>
          </a:p>
          <a:p>
            <a:pPr>
              <a:spcAft>
                <a:spcPts val="13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離線包下載</a:t>
            </a:r>
          </a:p>
          <a:p>
            <a:pPr>
              <a:spcAft>
                <a:spcPts val="1300"/>
              </a:spcAft>
            </a:pPr>
            <a:r>
              <a:rPr sz="1200" b="0" i="0">
                <a:solidFill>
                  <a:srgbClr val="4A463E"/>
                </a:solidFill>
                <a:latin typeface="Noto Sans TC"/>
                <a:ea typeface="Noto Sans TC"/>
              </a:rPr>
              <a:t>     把當前範圍整包釘住，出發前載好，山區無訊號照樣疊圖</a:t>
            </a:r>
          </a:p>
          <a:p>
            <a:pPr>
              <a:spcAft>
                <a:spcPts val="13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網路優先 / 快取優先</a:t>
            </a:r>
          </a:p>
          <a:p>
            <a:pPr>
              <a:spcAft>
                <a:spcPts val="1300"/>
              </a:spcAft>
            </a:pPr>
            <a:r>
              <a:rPr sz="1200" b="0" i="0">
                <a:solidFill>
                  <a:srgbClr val="4A463E"/>
                </a:solidFill>
                <a:latin typeface="Noto Sans TC"/>
                <a:ea typeface="Noto Sans TC"/>
              </a:rPr>
              <a:t>     HTML 走網路優先即時更新；圖磚走快取優先省流量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606040"/>
            <a:ext cx="3611880" cy="283464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606040"/>
            <a:ext cx="41148" cy="2834640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2788920"/>
            <a:ext cx="3154680" cy="2505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⚙️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SW 快取分桶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337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50" b="0" i="0" spc="40">
                <a:solidFill>
                  <a:srgbClr val="4A463E"/>
                </a:solidFill>
                <a:latin typeface="JetBrains Mono"/>
                <a:ea typeface="JetBrains Mono"/>
              </a:rPr>
              <a:t>shell-cache　·　App 外殼</a:t>
            </a:r>
          </a:p>
          <a:p>
            <a:pPr>
              <a:spcAft>
                <a:spcPts val="900"/>
              </a:spcAft>
            </a:pPr>
            <a:r>
              <a:rPr sz="1050" b="0" i="0" spc="40">
                <a:solidFill>
                  <a:srgbClr val="4A463E"/>
                </a:solidFill>
                <a:latin typeface="JetBrains Mono"/>
                <a:ea typeface="JetBrains Mono"/>
              </a:rPr>
              <a:t>runtime-cache　·　CDN / 字型</a:t>
            </a:r>
          </a:p>
          <a:p>
            <a:pPr>
              <a:spcAft>
                <a:spcPts val="900"/>
              </a:spcAft>
            </a:pPr>
            <a:r>
              <a:rPr sz="1050" b="0" i="0" spc="40">
                <a:solidFill>
                  <a:srgbClr val="4A463E"/>
                </a:solidFill>
                <a:latin typeface="JetBrains Mono"/>
                <a:ea typeface="JetBrains Mono"/>
              </a:rPr>
              <a:t>tiles-cache　·　圖磚 (LRU 1200)</a:t>
            </a:r>
          </a:p>
          <a:p>
            <a:pPr>
              <a:spcAft>
                <a:spcPts val="900"/>
              </a:spcAft>
            </a:pPr>
            <a:r>
              <a:rPr sz="1050" b="0" i="0" spc="40">
                <a:solidFill>
                  <a:srgbClr val="4A463E"/>
                </a:solidFill>
                <a:latin typeface="JetBrains Mono"/>
                <a:ea typeface="JetBrains Mono"/>
              </a:rPr>
              <a:t>pinned-cache　·　離線包 (永不驅逐)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07 · CREATIVE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讓人想一直走下去的小巧思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The details that make it feel alive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3410712" cy="1627632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41148" cy="16276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697480"/>
            <a:ext cx="295351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🎞️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走到才「顯影」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未抵達的明信片以模糊泛黃預覽呈現，親自走到才全彩沖洗 — 保留抵達的獎勵感。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514600"/>
            <a:ext cx="3410712" cy="1627632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514600"/>
            <a:ext cx="41148" cy="1627632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697480"/>
            <a:ext cx="295351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🔊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純合成音效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翻頁、顯影、抽到稀有卡的聲音全由 Web Audio 即時合成，零音檔。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4424" y="2514600"/>
            <a:ext cx="3410712" cy="1627632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4424" y="2514600"/>
            <a:ext cx="41148" cy="1627632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2697480"/>
            <a:ext cx="295351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📜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老紙質美學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紙張底色、噪點顆粒、襯線字與朱紅印記，介面像一份會動的舊地圖。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25112"/>
            <a:ext cx="3410712" cy="1627632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325112"/>
            <a:ext cx="41148" cy="1627632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507992"/>
            <a:ext cx="295351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↕️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拖曳式抽屜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底部面板 1:1 跟手拖曳、依速度甩動吸附；並修掉 Android 合成殘影。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4325112"/>
            <a:ext cx="3410712" cy="1627632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4325112"/>
            <a:ext cx="41148" cy="1627632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4507992"/>
            <a:ext cx="295351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✨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淡入淡出疊圖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切換年代時圖磚交叉淡化，像底片疊印，而非生硬的瞬間跳換。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4424" y="4325112"/>
            <a:ext cx="3410712" cy="1627632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64424" y="4325112"/>
            <a:ext cx="41148" cy="1627632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4507992"/>
            <a:ext cx="2953512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🧑‍🏫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漸進式引導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6E6A60"/>
                </a:solidFill>
                <a:latin typeface="Noto Sans TC"/>
                <a:ea typeface="Noto Sans TC"/>
              </a:rPr>
              <a:t>首訪導覽、今日明信片頁籤、可收合面板，讓複雜功能慢慢被發現。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08 · RESEARCH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 spc="100">
                <a:solidFill>
                  <a:srgbClr val="14130F"/>
                </a:solidFill>
                <a:latin typeface="Noto Serif TC"/>
                <a:ea typeface="Noto Serif TC"/>
              </a:rPr>
              <a:t>一個「步行核心」的公眾參與式 GIS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2E4374"/>
                </a:solidFill>
                <a:latin typeface="EB Garamond"/>
                <a:ea typeface="EB Garamond"/>
              </a:rPr>
              <a:t>Walking-first PPGIS — and where it's heading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6583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4A463E"/>
                </a:solidFill>
                <a:latin typeface="Noto Sans TC"/>
                <a:ea typeface="Noto Sans TC"/>
              </a:rPr>
              <a:t>多數 PPGIS 讓人坐在電腦前點圖填報；本專案把參與的觸發點移到</a:t>
            </a:r>
            <a:r>
              <a:rPr sz="1250" b="1" i="0">
                <a:solidFill>
                  <a:srgbClr val="1F1D19"/>
                </a:solidFill>
                <a:latin typeface="Noto Sans TC"/>
                <a:ea typeface="Noto Sans TC"/>
              </a:rPr>
              <a:t>「身體實際走到的位置」</a:t>
            </a:r>
            <a:r>
              <a:rPr sz="1250" b="0" i="0">
                <a:solidFill>
                  <a:srgbClr val="4A463E"/>
                </a:solidFill>
                <a:latin typeface="Noto Sans TC"/>
                <a:ea typeface="Noto Sans TC"/>
              </a:rPr>
              <a:t>，以接近觸發的收集與在地敘事，重新定義公眾如何與歷史地理互動。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現況　</a:t>
            </a:r>
            <a:r>
              <a:rPr sz="1200" b="0" i="0">
                <a:solidFill>
                  <a:srgbClr val="4A463E"/>
                </a:solidFill>
                <a:latin typeface="Noto Sans TC"/>
                <a:ea typeface="Noto Sans TC"/>
              </a:rPr>
              <a:t>非同步勘誤閉環：使用者回報釘位 / 史料 → 人工審核 → 釋出</a:t>
            </a:r>
          </a:p>
          <a:p>
            <a:pPr>
              <a:spcAft>
                <a:spcPts val="1200"/>
              </a:spcAft>
            </a:pPr>
            <a:r>
              <a:rPr sz="1300" b="0" i="0">
                <a:solidFill>
                  <a:srgbClr val="D65B3A"/>
                </a:solidFill>
                <a:latin typeface="JetBrains Mono"/>
                <a:ea typeface="JetBrains Mono"/>
              </a:rPr>
              <a:t>—  </a:t>
            </a:r>
            <a:r>
              <a:rPr sz="1350" b="1" i="0">
                <a:solidFill>
                  <a:srgbClr val="1F1D19"/>
                </a:solidFill>
                <a:latin typeface="Noto Serif TC"/>
                <a:ea typeface="Noto Serif TC"/>
              </a:rPr>
              <a:t>下一步　</a:t>
            </a:r>
            <a:r>
              <a:rPr sz="1200" b="0" i="0">
                <a:solidFill>
                  <a:srgbClr val="4A463E"/>
                </a:solidFill>
                <a:latin typeface="Noto Sans TC"/>
                <a:ea typeface="Noto Sans TC"/>
              </a:rPr>
              <a:t>即時 PPGIS：多人同步的知識共創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606040"/>
            <a:ext cx="3611880" cy="3017520"/>
          </a:xfrm>
          <a:prstGeom prst="rect">
            <a:avLst/>
          </a:prstGeom>
          <a:solidFill>
            <a:srgbClr val="EAE8E2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2606040"/>
            <a:ext cx="41148" cy="301752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2788920"/>
            <a:ext cx="3154680" cy="2688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 i="0">
                <a:solidFill>
                  <a:srgbClr val="1F1D19"/>
                </a:solidFill>
                <a:latin typeface="Noto Sans TC"/>
                <a:ea typeface="Noto Sans TC"/>
              </a:rPr>
              <a:t>🚀  </a:t>
            </a:r>
            <a:r>
              <a:rPr sz="1500" b="1" i="0" spc="60">
                <a:solidFill>
                  <a:srgbClr val="1F1D19"/>
                </a:solidFill>
                <a:latin typeface="Noto Serif TC"/>
                <a:ea typeface="Noto Serif TC"/>
              </a:rPr>
              <a:t>未來架構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33756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F1D19"/>
                </a:solidFill>
                <a:latin typeface="Noto Serif TC"/>
                <a:ea typeface="Noto Serif TC"/>
              </a:rPr>
              <a:t>Supabase</a:t>
            </a:r>
            <a:r>
              <a:rPr sz="900" b="0" i="0">
                <a:solidFill>
                  <a:srgbClr val="6E6A60"/>
                </a:solidFill>
                <a:latin typeface="JetBrains Mono"/>
                <a:ea typeface="JetBrains Mono"/>
              </a:rPr>
              <a:t> (PostgreSQL + PostGIS + Realtime)</a:t>
            </a:r>
          </a:p>
          <a:p>
            <a:pPr>
              <a:spcBef>
                <a:spcPts val="700"/>
              </a:spcBef>
            </a:pPr>
            <a:r>
              <a:rPr sz="1150" b="0" i="0">
                <a:solidFill>
                  <a:srgbClr val="4A463E"/>
                </a:solidFill>
                <a:latin typeface="Noto Sans TC"/>
                <a:ea typeface="Noto Sans TC"/>
              </a:rPr>
              <a:t>· 使用者勘誤上傳</a:t>
            </a:r>
          </a:p>
          <a:p>
            <a:pPr>
              <a:spcBef>
                <a:spcPts val="700"/>
              </a:spcBef>
            </a:pPr>
            <a:r>
              <a:rPr sz="1150" b="0" i="0">
                <a:solidFill>
                  <a:srgbClr val="4A463E"/>
                </a:solidFill>
                <a:latin typeface="Noto Sans TC"/>
                <a:ea typeface="Noto Sans TC"/>
              </a:rPr>
              <a:t>· 多源交叉驗證 / 研究者審核</a:t>
            </a:r>
          </a:p>
          <a:p>
            <a:pPr>
              <a:spcBef>
                <a:spcPts val="700"/>
              </a:spcBef>
            </a:pPr>
            <a:r>
              <a:rPr sz="1150" b="0" i="0">
                <a:solidFill>
                  <a:srgbClr val="4A463E"/>
                </a:solidFill>
                <a:latin typeface="Noto Sans TC"/>
                <a:ea typeface="Noto Sans TC"/>
              </a:rPr>
              <a:t>· 通過後即時推播至所有用戶端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04088"/>
            <a:ext cx="502920" cy="27432"/>
          </a:xfrm>
          <a:prstGeom prst="rect">
            <a:avLst/>
          </a:prstGeom>
          <a:solidFill>
            <a:srgbClr val="D6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40">
                <a:solidFill>
                  <a:srgbClr val="D65B3A"/>
                </a:solidFill>
                <a:latin typeface="JetBrains Mono"/>
                <a:ea typeface="JetBrains Mono"/>
              </a:rPr>
              <a:t>10 ·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800" b="1" i="0" spc="150">
                <a:solidFill>
                  <a:srgbClr val="14130F"/>
                </a:solidFill>
                <a:latin typeface="Noto Serif TC"/>
                <a:ea typeface="Noto Serif TC"/>
              </a:rPr>
              <a:t>歷史不在課本裡，</a:t>
            </a:r>
          </a:p>
          <a:p>
            <a:pPr>
              <a:spcBef>
                <a:spcPts val="800"/>
              </a:spcBef>
            </a:pPr>
            <a:r>
              <a:rPr sz="3800" b="1" i="0" spc="150">
                <a:solidFill>
                  <a:srgbClr val="14130F"/>
                </a:solidFill>
                <a:latin typeface="Noto Serif TC"/>
                <a:ea typeface="Noto Serif TC"/>
              </a:rPr>
              <a:t>就在你</a:t>
            </a:r>
            <a:r>
              <a:rPr sz="3800" b="1" i="0" spc="150">
                <a:solidFill>
                  <a:srgbClr val="D65B3A"/>
                </a:solidFill>
                <a:latin typeface="Noto Serif TC"/>
                <a:ea typeface="Noto Serif TC"/>
              </a:rPr>
              <a:t>走的這條路</a:t>
            </a:r>
            <a:r>
              <a:rPr sz="3800" b="1" i="0" spc="150">
                <a:solidFill>
                  <a:srgbClr val="14130F"/>
                </a:solidFill>
                <a:latin typeface="Noto Serif TC"/>
                <a:ea typeface="Noto Serif TC"/>
              </a:rPr>
              <a:t>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 spc="120">
                <a:solidFill>
                  <a:srgbClr val="6E6A60"/>
                </a:solidFill>
                <a:latin typeface="JetBrains Mono"/>
                <a:ea typeface="JetBrains Mono"/>
              </a:rPr>
              <a:t>舊地圖散策 · Taiwan Old-Map Stroll</a:t>
            </a:r>
          </a:p>
          <a:p>
            <a:pPr>
              <a:spcAft>
                <a:spcPts val="400"/>
              </a:spcAft>
            </a:pPr>
            <a:r>
              <a:rPr sz="1050" b="0" i="0" spc="120">
                <a:solidFill>
                  <a:srgbClr val="6E6A60"/>
                </a:solidFill>
                <a:latin typeface="JetBrains Mono"/>
                <a:ea typeface="JetBrains Mono"/>
              </a:rPr>
              <a:t>PWA · iOS / Android · 三語 · 離線可用 · 開源</a:t>
            </a:r>
          </a:p>
          <a:p>
            <a:pPr>
              <a:spcAft>
                <a:spcPts val="400"/>
              </a:spcAft>
            </a:pPr>
            <a:r>
              <a:rPr sz="1050" b="0" i="0" spc="120">
                <a:solidFill>
                  <a:srgbClr val="6E6A60"/>
                </a:solidFill>
                <a:latin typeface="JetBrains Mono"/>
                <a:ea typeface="JetBrains Mono"/>
              </a:rPr>
              <a:t>圖資 © 中央研究院 GIS · NLSC · CARTO / OpenStreetMap</a:t>
            </a:r>
          </a:p>
          <a:p>
            <a:pPr>
              <a:spcAft>
                <a:spcPts val="400"/>
              </a:spcAft>
            </a:pPr>
            <a:r>
              <a:rPr sz="1050" b="0" i="0" spc="120">
                <a:solidFill>
                  <a:srgbClr val="6E6A60"/>
                </a:solidFill>
                <a:latin typeface="JetBrains Mono"/>
                <a:ea typeface="JetBrains Mono"/>
              </a:rPr>
              <a:t>吳昀慶、張芸翠、朱穎芃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200">
                <a:solidFill>
                  <a:srgbClr val="9C988C"/>
                </a:solidFill>
                <a:latin typeface="JetBrains Mono"/>
                <a:ea typeface="JetBrains Mono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309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200">
                <a:solidFill>
                  <a:srgbClr val="9C988C"/>
                </a:solidFill>
                <a:latin typeface="JetBrains Mono"/>
                <a:ea typeface="JetBrains Mon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